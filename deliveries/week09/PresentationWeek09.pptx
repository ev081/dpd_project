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c5f9fa1f-8fdf-126b-0b67-04313f8bbb62}">
          <p14:sldIdLst>
            <p14:sldId id="256"/>
            <p14:sldId id="257"/>
            <p14:sldId id="258"/>
            <p14:sldId id="259"/>
          </p14:sldIdLst>
        </p14:section>
        <p14:section name="Modelos y resultados" id="{53bfefa8-b522-454e-f436-11e92f4f4f8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Estado y próximos pasos" id="{6fc38666-9d72-4f88-9c4d-601f073e507a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3A4A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E3A4A"/>
                </a:solidFill>
                <a:latin typeface="+mj-lt"/>
              </a:rPr>
              <a:t>WMAPE en test (61 días) — menor es mejor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 elegido (validación)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L1</c:v>
                  </c:pt>
                  <c:pt idx="1">
                    <c:v>Troncal</c:v>
                  </c:pt>
                  <c:pt idx="2">
                    <c:v>Corredores</c:v>
                  </c:pt>
                  <c:pt idx="3">
                    <c:v>Alimentadores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0.1021</c:v>
                </c:pt>
                <c:pt idx="1">
                  <c:v>0.1229</c:v>
                </c:pt>
                <c:pt idx="2">
                  <c:v>0.1196</c:v>
                </c:pt>
                <c:pt idx="3">
                  <c:v>0.4045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Mejor baseline</c:v>
                </c:pt>
              </c:strCache>
            </c:strRef>
          </c:tx>
          <c:spPr>
            <a:solidFill>
              <a:srgbClr val="C3C2B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L1</c:v>
                  </c:pt>
                  <c:pt idx="1">
                    <c:v>Troncal</c:v>
                  </c:pt>
                  <c:pt idx="2">
                    <c:v>Corredores</c:v>
                  </c:pt>
                  <c:pt idx="3">
                    <c:v>Alimentadores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0.1256</c:v>
                </c:pt>
                <c:pt idx="1">
                  <c:v>0.1595</c:v>
                </c:pt>
                <c:pt idx="2">
                  <c:v>0.1669</c:v>
                </c:pt>
                <c:pt idx="3">
                  <c:v>0.4724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52514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9878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3A4A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E3A4A"/>
                </a:solidFill>
                <a:latin typeface="+mj-lt"/>
              </a:rPr>
              <a:t>WMAPE del modelo elegido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Días normales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L1</c:v>
                  </c:pt>
                  <c:pt idx="1">
                    <c:v>Troncal</c:v>
                  </c:pt>
                  <c:pt idx="2">
                    <c:v>Corredores</c:v>
                  </c:pt>
                  <c:pt idx="3">
                    <c:v>Alimentadores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0.0758</c:v>
                </c:pt>
                <c:pt idx="1">
                  <c:v>0.0836</c:v>
                </c:pt>
                <c:pt idx="2">
                  <c:v>0.0923</c:v>
                </c:pt>
                <c:pt idx="3">
                  <c:v>0.3926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Días atípicos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L1</c:v>
                  </c:pt>
                  <c:pt idx="1">
                    <c:v>Troncal</c:v>
                  </c:pt>
                  <c:pt idx="2">
                    <c:v>Corredores</c:v>
                  </c:pt>
                  <c:pt idx="3">
                    <c:v>Alimentadores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0.3539</c:v>
                </c:pt>
                <c:pt idx="1">
                  <c:v>0.6044</c:v>
                </c:pt>
                <c:pt idx="2">
                  <c:v>0.465</c:v>
                </c:pt>
                <c:pt idx="3">
                  <c:v>0.5484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52514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9878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3A4A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E3A4A"/>
                </a:solidFill>
                <a:latin typeface="+mj-lt"/>
              </a:rPr>
              <a:t>Cobertura de la banda 80 % (objetivo 0.80)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Conformal (v2)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L1</c:v>
                  </c:pt>
                  <c:pt idx="1">
                    <c:v>Troncal</c:v>
                  </c:pt>
                  <c:pt idx="2">
                    <c:v>Corredores</c:v>
                  </c:pt>
                  <c:pt idx="3">
                    <c:v>Alimentadores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0.7710872915790948</c:v>
                </c:pt>
                <c:pt idx="1">
                  <c:v>0.7793108682452945</c:v>
                </c:pt>
                <c:pt idx="2">
                  <c:v>0.8041894353369763</c:v>
                </c:pt>
                <c:pt idx="3">
                  <c:v>0.8109916367980884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Banda fija ±15 % (week08)</c:v>
                </c:pt>
              </c:strCache>
            </c:strRef>
          </c:tx>
          <c:spPr>
            <a:solidFill>
              <a:srgbClr val="C3C2B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L1</c:v>
                  </c:pt>
                  <c:pt idx="1">
                    <c:v>Troncal</c:v>
                  </c:pt>
                  <c:pt idx="2">
                    <c:v>Corredores</c:v>
                  </c:pt>
                  <c:pt idx="3">
                    <c:v>Alimentadores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0.7960277427490542</c:v>
                </c:pt>
                <c:pt idx="1">
                  <c:v>0.5165452337583485</c:v>
                </c:pt>
                <c:pt idx="2">
                  <c:v>0.5079690346083788</c:v>
                </c:pt>
                <c:pt idx="3">
                  <c:v>0.169205495818399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52514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9878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3A4A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E3A4A"/>
                </a:solidFill>
                <a:latin typeface="+mj-lt"/>
              </a:rPr>
              <a:t>F1-weighted en test (61 días)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Cascada (modelo elegido)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L1</c:v>
                  </c:pt>
                  <c:pt idx="1">
                    <c:v>Troncal</c:v>
                  </c:pt>
                  <c:pt idx="2">
                    <c:v>Corredores</c:v>
                  </c:pt>
                  <c:pt idx="3">
                    <c:v>Alimentadores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0.9193120369485898</c:v>
                </c:pt>
                <c:pt idx="1">
                  <c:v>0.9065163065181197</c:v>
                </c:pt>
                <c:pt idx="2">
                  <c:v>0.9272785735530628</c:v>
                </c:pt>
                <c:pt idx="3">
                  <c:v>0.8416164060366443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Moda histórica</c:v>
                </c:pt>
              </c:strCache>
            </c:strRef>
          </c:tx>
          <c:spPr>
            <a:solidFill>
              <a:srgbClr val="8FB4E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L1</c:v>
                  </c:pt>
                  <c:pt idx="1">
                    <c:v>Troncal</c:v>
                  </c:pt>
                  <c:pt idx="2">
                    <c:v>Corredores</c:v>
                  </c:pt>
                  <c:pt idx="3">
                    <c:v>Alimentadores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0.878621993976777</c:v>
                </c:pt>
                <c:pt idx="1">
                  <c:v>0.919568199347324</c:v>
                </c:pt>
                <c:pt idx="2">
                  <c:v>0.9238811060684762</c:v>
                </c:pt>
                <c:pt idx="3">
                  <c:v>0.8014718511564196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Clase mayoritaria</c:v>
                </c:pt>
              </c:strCache>
            </c:strRef>
          </c:tx>
          <c:spPr>
            <a:solidFill>
              <a:srgbClr val="C3C2B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L1</c:v>
                  </c:pt>
                  <c:pt idx="1">
                    <c:v>Troncal</c:v>
                  </c:pt>
                  <c:pt idx="2">
                    <c:v>Corredores</c:v>
                  </c:pt>
                  <c:pt idx="3">
                    <c:v>Alimentadores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0.3914518455848614</c:v>
                </c:pt>
                <c:pt idx="1">
                  <c:v>0.4276364061663302</c:v>
                </c:pt>
                <c:pt idx="2">
                  <c:v>0.4638115001837452</c:v>
                </c:pt>
                <c:pt idx="3">
                  <c:v>0.5806548924241954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52514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9878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3A4A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E3A4A"/>
                </a:solidFill>
                <a:latin typeface="+mj-lt"/>
              </a:rPr>
              <a:t>PR-AUC detectando feriados y paros (feb–dic 2025)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Residuos + z robusto (v2)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L1</c:v>
                  </c:pt>
                  <c:pt idx="1">
                    <c:v>Troncal</c:v>
                  </c:pt>
                  <c:pt idx="2">
                    <c:v>Corredores</c:v>
                  </c:pt>
                  <c:pt idx="3">
                    <c:v>Alimentadores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0.594749201244948</c:v>
                </c:pt>
                <c:pt idx="1">
                  <c:v>0.6909981801428012</c:v>
                </c:pt>
                <c:pt idx="2">
                  <c:v>0.7171392843287827</c:v>
                </c:pt>
                <c:pt idx="3">
                  <c:v>0.3946803434467631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IsolationForest (week08)</c:v>
                </c:pt>
              </c:strCache>
            </c:strRef>
          </c:tx>
          <c:spPr>
            <a:solidFill>
              <a:srgbClr val="C3C2B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L1</c:v>
                  </c:pt>
                  <c:pt idx="1">
                    <c:v>Troncal</c:v>
                  </c:pt>
                  <c:pt idx="2">
                    <c:v>Corredores</c:v>
                  </c:pt>
                  <c:pt idx="3">
                    <c:v>Alimentadores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0.4075043136827266</c:v>
                </c:pt>
                <c:pt idx="1">
                  <c:v>0.4611900595922472</c:v>
                </c:pt>
                <c:pt idx="2">
                  <c:v>0.2255783993210686</c:v>
                </c:pt>
                <c:pt idx="3">
                  <c:v>0.4350946551165935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52514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9878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avance de la semana 9: qué datos tenemos, qué modelos probamos, cómo los evaluamos y qué falta para el prototipo de la semana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usuarios: el pasajero que decide en el paradero y el planificador que necesita anticipar demanda y eventos. El objetivo general del producto es reducir el tiempo de espera.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en cascada: el pronóstico de demanda alimenta el aforo; el aforo y el headway dan el ETA; la regla U produce la recomendación; los residuos del pronóstico disparan alertas.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recibidos vía solicitud de acceso a la información pública. El panel fiable excluye unidades con menos de 90 % de cobertura. Re-ejecutamos el pipeline desde cero y verificamos los conteos contra los valores esperados del pipeline de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cruzar los días de evaluación con un calendario completo descubrimos que el 4 de noviembre hubo paro de transportistas y el 9 de diciembre fue feriado nacional. Eso sesgaba el ranking de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variable objetivo principal es la demanda de validaciones por hora. Las validaciones no son ocupación a bordo, por eso el aforo es un índice de presión de abordaje. El ETA es un estimador basado en frecuencias.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ganador de cada sistema se elige en validación y el test solo se reporta, para evitar sesgo de selección. Chronos-2 se usa sin entrenamiento, con el feriado como covariable futura conocida.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Ganador elegido en validación, reportado en test (61 días). metro_l1: Ensemble WMAPE 0.102 vs Media 4 semanas 0.126 (−19 % WMAPE) | troncal: Ensemble WMAPE 0.123 vs Media 4 semanas 0.160 (−23 % WMAPE) | corredor: Ensemble WMAPE 0.120 vs Media 4 semanas 0.167 (−28 % WMAPE) | alimentador: LightGBM WMAPE 0.405 vs Media 4 semanas 0.472 (−14 % WMAPE)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sube en feriados, paros y vísperas; las bandas conformal se calibran con los últimos 14 días. metro_l1: normales 0.076 / atípicos 0.354 | troncal: normales 0.084 / atípicos 0.604 | corredor: normales 0.092 / atípicos 0.465 | alimentador: normales 0.393 / atípicos 0.548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Aforo por cascada (pronóstico → índice de presión → clase) contra la clase calculada con validaciones reales. metro_l1: F1-w 0.92 (moda 0.88, mayoritaria 0.39) | troncal: F1-w 0.91 (moda 0.92, mayoritaria 0.43) | corredor: F1-w 0.93 (moda 0.92, mayoritaria 0.46) | alimentador: F1-w 0.84 (moda 0.80, mayoritaria 0.58)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U aplicada al pronóstico contra la misma regla con datos reales. metro_l1: acuerdo 96.9% vs siempre abordar 93.1% | troncal: acuerdo 97.8% vs siempre abordar 94.7% | corredor: acuerdo 97.6% vs siempre abordar 89.7% | alimentador: acuerdo 97.0% vs siempre abordar 96.4%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Detección de días atípicos (feriados y paros) en feb–dic 2025. metro_l1: PR-AUC residuos 0.59 vs IsolationForest 0.41 | troncal: PR-AUC residuos 0.69 vs IsolationForest 0.46 | corredor: PR-AUC residuos 0.72 vs IsolationForest 0.23 | alimentador: PR-AUC residuos 0.39 vs IsolationForest 0.44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núcleo analítico está listo y verificado. Lo pendiente para la semana 10 es la capa de producto: API, frontend y despliegue.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final mostraremos el flujo completo para cada usuario y los indicadores medidos en test, siempre comparados contra baselines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limitaciones vienen de los datos, no del modelo. Si la ATU comparte GPS o conteos a bordo, el motor se reemplaza sin cambiar las tres clases de la interfaz.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Quedamos atentos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E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</a:rPr>
              <a:t>UrbanSafe AI · Avance semana 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E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3C2B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UrbanSafe AI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Avance semana 09: pronóstico de demanda, aforo y alertas para el transporte público de Lima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</a:rPr>
              <a:t>Elmer Villegas · Alessandro Monzón · Juan David Velo (líder)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</a:rPr>
              <a:t>DS3022 Desarrollo de Producto de Datos · UTEC · octubre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esperar sin información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</a:rPr>
              <a:t>En el Metropolitano, corredores y Metro L1 el pasajero no sabe cuándo llega la próxima unidad ni qué tan llena viene.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</a:rPr>
              <a:t>Resultado: esperas largas, buses saturados y decisiones a ciegas en la estación o el paradero.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</a:rPr>
              <a:t>La ATU registra cada validación, pero esos datos no llegan al pasajero como información útil.</a:t>
            </a:r>
            <a:endParaRPr lang="en-US" sz="1700" dirty="0"/>
          </a:p>
        </p:txBody>
      </p:sp>
      <p:sp>
        <p:nvSpPr>
          <p:cNvPr id="4" name="usuario_0"/>
          <p:cNvSpPr/>
          <p:nvPr/>
        </p:nvSpPr>
        <p:spPr>
          <a:xfrm>
            <a:off x="6126480" y="132588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5" name="usuario_0_circulo"/>
          <p:cNvSpPr/>
          <p:nvPr/>
        </p:nvSpPr>
        <p:spPr>
          <a:xfrm>
            <a:off x="6355080" y="1600200"/>
            <a:ext cx="777240" cy="7772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usuario_0_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1755648"/>
            <a:ext cx="466344" cy="4663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60920" y="1600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3A4A"/>
                </a:solidFill>
              </a:rPr>
              <a:t>Pasajero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20574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Decidir si abordar, esperar la siguiente unidad o cambiar de paradero, con aforo y tiempo de espera estimados.</a:t>
            </a:r>
            <a:endParaRPr lang="en-US" sz="1400" dirty="0"/>
          </a:p>
        </p:txBody>
      </p:sp>
      <p:sp>
        <p:nvSpPr>
          <p:cNvPr id="9" name="usuario_1"/>
          <p:cNvSpPr/>
          <p:nvPr/>
        </p:nvSpPr>
        <p:spPr>
          <a:xfrm>
            <a:off x="6126480" y="370332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0" name="usuario_1_circulo"/>
          <p:cNvSpPr/>
          <p:nvPr/>
        </p:nvSpPr>
        <p:spPr>
          <a:xfrm>
            <a:off x="6355080" y="3977640"/>
            <a:ext cx="777240" cy="7772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1" name="usuario_1_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4133088"/>
            <a:ext cx="466344" cy="4663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3977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3A4A"/>
                </a:solidFill>
              </a:rPr>
              <a:t>Planificador (ATU / municipios)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4434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Anticipar la demanda por estación y hora, detectar días atípicos (paros, feriados) y focos de saturación.</a:t>
            </a:r>
            <a:endParaRPr lang="en-US" sz="1400" dirty="0"/>
          </a:p>
        </p:txBody>
      </p:sp>
      <p:sp>
        <p:nvSpPr>
          <p:cNvPr id="14" name="inei"/>
          <p:cNvSpPr/>
          <p:nvPr/>
        </p:nvSpPr>
        <p:spPr>
          <a:xfrm>
            <a:off x="548640" y="46177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7548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+85 %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2286000" y="47548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de los limeños percibe inseguridad en la vía pública (INEI, 2025): motiva el segundo plus de rutas peatonales seguras.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del dato de validación a la decisión</a:t>
            </a:r>
            <a:endParaRPr lang="en-US" sz="3200" dirty="0"/>
          </a:p>
        </p:txBody>
      </p:sp>
      <p:sp>
        <p:nvSpPr>
          <p:cNvPr id="3" name="paso_0"/>
          <p:cNvSpPr/>
          <p:nvPr/>
        </p:nvSpPr>
        <p:spPr>
          <a:xfrm>
            <a:off x="548640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4" name="paso_0_circulo"/>
          <p:cNvSpPr/>
          <p:nvPr/>
        </p:nvSpPr>
        <p:spPr>
          <a:xfrm>
            <a:off x="1188720" y="1783080"/>
            <a:ext cx="822960" cy="8229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5" name="paso_0_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947672"/>
            <a:ext cx="49377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A4A"/>
                </a:solidFill>
              </a:rPr>
              <a:t>1. Datos ATU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66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Validaciones horarias de 4 sistemas (2025)</a:t>
            </a:r>
            <a:endParaRPr lang="en-US" sz="1300" dirty="0"/>
          </a:p>
        </p:txBody>
      </p:sp>
      <p:sp>
        <p:nvSpPr>
          <p:cNvPr id="8" name="paso_1"/>
          <p:cNvSpPr/>
          <p:nvPr/>
        </p:nvSpPr>
        <p:spPr>
          <a:xfrm>
            <a:off x="2788920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9" name="paso_1_circulo"/>
          <p:cNvSpPr/>
          <p:nvPr/>
        </p:nvSpPr>
        <p:spPr>
          <a:xfrm>
            <a:off x="3429000" y="1783080"/>
            <a:ext cx="822960" cy="8229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0" name="paso_1_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4767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2608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A4A"/>
                </a:solidFill>
              </a:rPr>
              <a:t>2. Pronóstico 24 h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926080" y="3566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Demanda por estación o ruta y hora, con banda del 80 %</a:t>
            </a:r>
            <a:endParaRPr lang="en-US" sz="1300" dirty="0"/>
          </a:p>
        </p:txBody>
      </p:sp>
      <p:sp>
        <p:nvSpPr>
          <p:cNvPr id="13" name="paso_2"/>
          <p:cNvSpPr/>
          <p:nvPr/>
        </p:nvSpPr>
        <p:spPr>
          <a:xfrm>
            <a:off x="5029200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4" name="paso_2_circulo"/>
          <p:cNvSpPr/>
          <p:nvPr/>
        </p:nvSpPr>
        <p:spPr>
          <a:xfrm>
            <a:off x="5669280" y="1783080"/>
            <a:ext cx="822960" cy="8229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5" name="paso_2_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94767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6636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A4A"/>
                </a:solidFill>
              </a:rPr>
              <a:t>3. Aforo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3566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Asientos / De pie / Saturado vía índice de presión</a:t>
            </a:r>
            <a:endParaRPr lang="en-US" sz="1300" dirty="0"/>
          </a:p>
        </p:txBody>
      </p:sp>
      <p:sp>
        <p:nvSpPr>
          <p:cNvPr id="18" name="paso_3"/>
          <p:cNvSpPr/>
          <p:nvPr/>
        </p:nvSpPr>
        <p:spPr>
          <a:xfrm>
            <a:off x="7269480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9" name="paso_3_circulo"/>
          <p:cNvSpPr/>
          <p:nvPr/>
        </p:nvSpPr>
        <p:spPr>
          <a:xfrm>
            <a:off x="7909560" y="1783080"/>
            <a:ext cx="822960" cy="8229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0" name="paso_3_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947672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A4A"/>
                </a:solidFill>
              </a:rPr>
              <a:t>4. ETA y recomendación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3566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Abordar, esperar o cambiar de paradero</a:t>
            </a:r>
            <a:endParaRPr lang="en-US" sz="1300" dirty="0"/>
          </a:p>
        </p:txBody>
      </p:sp>
      <p:sp>
        <p:nvSpPr>
          <p:cNvPr id="23" name="paso_4"/>
          <p:cNvSpPr/>
          <p:nvPr/>
        </p:nvSpPr>
        <p:spPr>
          <a:xfrm>
            <a:off x="9509760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24" name="paso_4_circulo"/>
          <p:cNvSpPr/>
          <p:nvPr/>
        </p:nvSpPr>
        <p:spPr>
          <a:xfrm>
            <a:off x="10149840" y="1783080"/>
            <a:ext cx="822960" cy="82296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5" name="paso_4_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2" y="1947672"/>
            <a:ext cx="493776" cy="49377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4692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A4A"/>
                </a:solidFill>
              </a:rPr>
              <a:t>5. Alertas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646920" y="3566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Días anómalos: paros, feriados, eventos</a:t>
            </a:r>
            <a:endParaRPr lang="en-US" sz="1300" dirty="0"/>
          </a:p>
        </p:txBody>
      </p:sp>
      <p:sp>
        <p:nvSpPr>
          <p:cNvPr id="28" name="plus_peatonal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29" name="plus_peatonal_circulo"/>
          <p:cNvSpPr/>
          <p:nvPr/>
        </p:nvSpPr>
        <p:spPr>
          <a:xfrm>
            <a:off x="777240" y="5120640"/>
            <a:ext cx="777240" cy="7772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0" name="plus_peatonal_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276088"/>
            <a:ext cx="466344" cy="4663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783080" y="51206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A"/>
                </a:solidFill>
              </a:rPr>
              <a:t>Segundo plus (semana 11):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</a:rPr>
              <a:t>ruta peatonal segura de primera y última milla sobre la red de OpenStreetMap (luminarias, comisarías y comercios).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datos: validaciones reales de la ATU 2025</a:t>
            </a:r>
            <a:endParaRPr lang="en-US" sz="3200" dirty="0"/>
          </a:p>
        </p:txBody>
      </p:sp>
      <p:sp>
        <p:nvSpPr>
          <p:cNvPr id="3" name="stat_0"/>
          <p:cNvSpPr/>
          <p:nvPr/>
        </p:nvSpPr>
        <p:spPr>
          <a:xfrm>
            <a:off x="548640" y="13258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 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registros horarios fiables</a:t>
            </a:r>
            <a:endParaRPr lang="en-US" sz="1300" dirty="0"/>
          </a:p>
        </p:txBody>
      </p:sp>
      <p:sp>
        <p:nvSpPr>
          <p:cNvPr id="6" name="stat_1"/>
          <p:cNvSpPr/>
          <p:nvPr/>
        </p:nvSpPr>
        <p:spPr>
          <a:xfrm>
            <a:off x="3364992" y="13258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estaciones y rutas modelables</a:t>
            </a:r>
            <a:endParaRPr lang="en-US" sz="1300" dirty="0"/>
          </a:p>
        </p:txBody>
      </p:sp>
      <p:sp>
        <p:nvSpPr>
          <p:cNvPr id="9" name="stat_2"/>
          <p:cNvSpPr/>
          <p:nvPr/>
        </p:nvSpPr>
        <p:spPr>
          <a:xfrm>
            <a:off x="6181344" y="13258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sistemas: Metro L1, troncal, corredores y alimentadores</a:t>
            </a:r>
            <a:endParaRPr lang="en-US" sz="1300" dirty="0"/>
          </a:p>
        </p:txBody>
      </p:sp>
      <p:sp>
        <p:nvSpPr>
          <p:cNvPr id="12" name="stat_3"/>
          <p:cNvSpPr/>
          <p:nvPr/>
        </p:nvSpPr>
        <p:spPr>
          <a:xfrm>
            <a:off x="8997696" y="13258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0576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+ 8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feriados oficiales y paros verificados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82880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Unidades modeladas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Validaciones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201 512 887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Troncal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127 492 997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81 806 735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Alimentadores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19 875 011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repro"/>
          <p:cNvSpPr/>
          <p:nvPr/>
        </p:nvSpPr>
        <p:spPr>
          <a:xfrm>
            <a:off x="7863840" y="3246120"/>
            <a:ext cx="3749040" cy="2697480"/>
          </a:xfrm>
          <a:prstGeom prst="roundRect">
            <a:avLst>
              <a:gd name="adj" fmla="val 4068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7" name="repro_circulo"/>
          <p:cNvSpPr/>
          <p:nvPr/>
        </p:nvSpPr>
        <p:spPr>
          <a:xfrm>
            <a:off x="8092440" y="3474720"/>
            <a:ext cx="685800" cy="685800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pic>
        <p:nvPicPr>
          <p:cNvPr id="18" name="repro_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61188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96112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A4A"/>
                </a:solidFill>
              </a:rPr>
              <a:t>Reproducción verificada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092440" y="434340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Re-ejecutamos todo el pipeline de Elmer desde los ZIP de la ATU: los conteos coinciden exactamente con el contrato de week10 (12 344 159 filas).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Hallazgo: 2 de los 5 días de evaluación eran atípicos</a:t>
            </a:r>
            <a:endParaRPr lang="en-US" sz="3200" dirty="0"/>
          </a:p>
        </p:txBody>
      </p:sp>
      <p:sp>
        <p:nvSpPr>
          <p:cNvPr id="3" name="chip_0"/>
          <p:cNvSpPr/>
          <p:nvPr/>
        </p:nvSpPr>
        <p:spPr>
          <a:xfrm>
            <a:off x="548640" y="141732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04-nov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Paro de transportistas</a:t>
            </a:r>
            <a:endParaRPr lang="en-US" sz="1300" dirty="0"/>
          </a:p>
        </p:txBody>
      </p:sp>
      <p:sp>
        <p:nvSpPr>
          <p:cNvPr id="6" name="chip_1"/>
          <p:cNvSpPr/>
          <p:nvPr/>
        </p:nvSpPr>
        <p:spPr>
          <a:xfrm>
            <a:off x="2788920" y="141732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554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11-nov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148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Martes normal</a:t>
            </a:r>
            <a:endParaRPr lang="en-US" sz="1300" dirty="0"/>
          </a:p>
        </p:txBody>
      </p:sp>
      <p:sp>
        <p:nvSpPr>
          <p:cNvPr id="9" name="chip_2"/>
          <p:cNvSpPr/>
          <p:nvPr/>
        </p:nvSpPr>
        <p:spPr>
          <a:xfrm>
            <a:off x="5029200" y="141732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554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18-nov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148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Martes normal</a:t>
            </a:r>
            <a:endParaRPr lang="en-US" sz="1300" dirty="0"/>
          </a:p>
        </p:txBody>
      </p:sp>
      <p:sp>
        <p:nvSpPr>
          <p:cNvPr id="12" name="chip_3"/>
          <p:cNvSpPr/>
          <p:nvPr/>
        </p:nvSpPr>
        <p:spPr>
          <a:xfrm>
            <a:off x="7269480" y="141732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1554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02-dic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148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Martes normal</a:t>
            </a:r>
            <a:endParaRPr lang="en-US" sz="1300" dirty="0"/>
          </a:p>
        </p:txBody>
      </p:sp>
      <p:sp>
        <p:nvSpPr>
          <p:cNvPr id="15" name="chip_4"/>
          <p:cNvSpPr/>
          <p:nvPr/>
        </p:nvSpPr>
        <p:spPr>
          <a:xfrm>
            <a:off x="9509760" y="141732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46920" y="1554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09-dic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646920" y="2148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Feriado (Batalla de Ayacucho)</a:t>
            </a:r>
            <a:endParaRPr lang="en-US" sz="1300" dirty="0"/>
          </a:p>
        </p:txBody>
      </p:sp>
      <p:sp>
        <p:nvSpPr>
          <p:cNvPr id="18" name="leccion_0"/>
          <p:cNvSpPr/>
          <p:nvPr/>
        </p:nvSpPr>
        <p:spPr>
          <a:xfrm>
            <a:off x="548640" y="3337560"/>
            <a:ext cx="3566160" cy="260604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9" name="leccion_0_circulo"/>
          <p:cNvSpPr/>
          <p:nvPr/>
        </p:nvSpPr>
        <p:spPr>
          <a:xfrm>
            <a:off x="777240" y="3566160"/>
            <a:ext cx="685800" cy="6858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0" name="leccion_0_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0332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64592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A4A"/>
                </a:solidFill>
              </a:rPr>
              <a:t>Qué pasaba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434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El walk-forward de week08 evaluaba 5 martes y elegía el ganador sobre esos mismos días.</a:t>
            </a:r>
            <a:endParaRPr lang="en-US" sz="1400" dirty="0"/>
          </a:p>
        </p:txBody>
      </p:sp>
      <p:sp>
        <p:nvSpPr>
          <p:cNvPr id="23" name="leccion_1"/>
          <p:cNvSpPr/>
          <p:nvPr/>
        </p:nvSpPr>
        <p:spPr>
          <a:xfrm>
            <a:off x="4297680" y="3337560"/>
            <a:ext cx="3566160" cy="260604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24" name="leccion_1_circulo"/>
          <p:cNvSpPr/>
          <p:nvPr/>
        </p:nvSpPr>
        <p:spPr>
          <a:xfrm>
            <a:off x="4526280" y="3566160"/>
            <a:ext cx="685800" cy="68580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25" name="leccion_1_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703320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39496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A4A"/>
                </a:solidFill>
              </a:rPr>
              <a:t>Por qué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0" y="4434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El calendario tenía 11 feriados; el oficial 2025 tiene 16 (faltaban 07‑06, 23‑07, 28‑07, 06‑08 y 09‑12).</a:t>
            </a:r>
            <a:endParaRPr lang="en-US" sz="1400" dirty="0"/>
          </a:p>
        </p:txBody>
      </p:sp>
      <p:sp>
        <p:nvSpPr>
          <p:cNvPr id="28" name="leccion_2"/>
          <p:cNvSpPr/>
          <p:nvPr/>
        </p:nvSpPr>
        <p:spPr>
          <a:xfrm>
            <a:off x="8046720" y="3337560"/>
            <a:ext cx="3566160" cy="260604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29" name="leccion_2_circulo"/>
          <p:cNvSpPr/>
          <p:nvPr/>
        </p:nvSpPr>
        <p:spPr>
          <a:xfrm>
            <a:off x="8275320" y="3566160"/>
            <a:ext cx="685800" cy="6858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30" name="leccion_2_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703320"/>
            <a:ext cx="411480" cy="41148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14400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A4A"/>
                </a:solidFill>
              </a:rPr>
              <a:t>Qué corregimos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8321040" y="4434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Calendario completo + 8 paros verificados en prensa, 61 días de test y selección del modelo en validación.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predecimos y cómo lo medimos</a:t>
            </a:r>
            <a:endParaRPr lang="en-US" sz="3200" dirty="0"/>
          </a:p>
        </p:txBody>
      </p:sp>
      <p:sp>
        <p:nvSpPr>
          <p:cNvPr id="3" name="tarea_0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4" name="tarea_0_circulo"/>
          <p:cNvSpPr/>
          <p:nvPr/>
        </p:nvSpPr>
        <p:spPr>
          <a:xfrm>
            <a:off x="777240" y="1600200"/>
            <a:ext cx="777240" cy="7772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5" name="tarea_0_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55648"/>
            <a:ext cx="466344" cy="466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3A4A"/>
                </a:solidFill>
              </a:rPr>
              <a:t>Predecir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1031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Validaciones por unidad y hora, 24 h adelante (regresión de series de tiempo).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98781"/>
                </a:solidFill>
              </a:rPr>
              <a:t>Métricas: WMAPE, MAE, MASE</a:t>
            </a:r>
            <a:endParaRPr lang="en-US" sz="1200" dirty="0"/>
          </a:p>
        </p:txBody>
      </p:sp>
      <p:sp>
        <p:nvSpPr>
          <p:cNvPr id="9" name="tarea_1"/>
          <p:cNvSpPr/>
          <p:nvPr/>
        </p:nvSpPr>
        <p:spPr>
          <a:xfrm>
            <a:off x="6172200" y="13258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0" name="tarea_1_circulo"/>
          <p:cNvSpPr/>
          <p:nvPr/>
        </p:nvSpPr>
        <p:spPr>
          <a:xfrm>
            <a:off x="6400800" y="1600200"/>
            <a:ext cx="777240" cy="7772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tarea_1_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755648"/>
            <a:ext cx="466344" cy="4663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3A4A"/>
                </a:solidFill>
              </a:rPr>
              <a:t>Clasificar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21031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Aforo Asientos / De pie / Saturado desde el pronóstico (índice de presión de abordaje).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98781"/>
                </a:solidFill>
              </a:rPr>
              <a:t>Métricas: F1-weighted, F1-macro</a:t>
            </a:r>
            <a:endParaRPr lang="en-US" sz="1200" dirty="0"/>
          </a:p>
        </p:txBody>
      </p:sp>
      <p:sp>
        <p:nvSpPr>
          <p:cNvPr id="15" name="tarea_2"/>
          <p:cNvSpPr/>
          <p:nvPr/>
        </p:nvSpPr>
        <p:spPr>
          <a:xfrm>
            <a:off x="548640" y="379476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6" name="tarea_2_circulo"/>
          <p:cNvSpPr/>
          <p:nvPr/>
        </p:nvSpPr>
        <p:spPr>
          <a:xfrm>
            <a:off x="777240" y="4069080"/>
            <a:ext cx="777240" cy="7772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7" name="tarea_2_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24528"/>
            <a:ext cx="466344" cy="4663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3A4A"/>
                </a:solidFill>
              </a:rPr>
              <a:t>Recomendar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45720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Abordar, esperar la siguiente o cambiar de paradero (regla U + ETA).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783080" y="5486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98781"/>
                </a:solidFill>
              </a:rPr>
              <a:t>Métrica: acuerdo (AC-03), balanced accuracy</a:t>
            </a:r>
            <a:endParaRPr lang="en-US" sz="1200" dirty="0"/>
          </a:p>
        </p:txBody>
      </p:sp>
      <p:sp>
        <p:nvSpPr>
          <p:cNvPr id="21" name="tarea_3"/>
          <p:cNvSpPr/>
          <p:nvPr/>
        </p:nvSpPr>
        <p:spPr>
          <a:xfrm>
            <a:off x="6172200" y="379476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22" name="tarea_3_circulo"/>
          <p:cNvSpPr/>
          <p:nvPr/>
        </p:nvSpPr>
        <p:spPr>
          <a:xfrm>
            <a:off x="6400800" y="4069080"/>
            <a:ext cx="777240" cy="7772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3" name="tarea_3_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224528"/>
            <a:ext cx="466344" cy="4663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066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3A4A"/>
                </a:solidFill>
              </a:rPr>
              <a:t>Detectar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7406640" y="45720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Días anómalos para el planificador: paros, feriados, eventos.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406640" y="5486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98781"/>
                </a:solidFill>
              </a:rPr>
              <a:t>Métricas: PR-AUC, precisión, recall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v2: elegir en validación, reportar en test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345936" cy="868680"/>
          </a:xfrm>
          <a:prstGeom prst="roundRect">
            <a:avLst>
              <a:gd name="adj" fmla="val 10526"/>
            </a:avLst>
          </a:prstGeom>
          <a:solidFill>
            <a:srgbClr val="DCE6E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A"/>
                </a:solidFill>
              </a:rPr>
              <a:t>Historia (entrenamiento / contexto)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3A4A"/>
                </a:solidFill>
              </a:rPr>
              <a:t>1 ene – 14 oct 2025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0" y="1417320"/>
            <a:ext cx="1408176" cy="868680"/>
          </a:xfrm>
          <a:prstGeom prst="roundRect">
            <a:avLst>
              <a:gd name="adj" fmla="val 10526"/>
            </a:avLst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14630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15 – 31 oct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1417320"/>
            <a:ext cx="3145536" cy="868680"/>
          </a:xfrm>
          <a:prstGeom prst="roundRect">
            <a:avLst>
              <a:gd name="adj" fmla="val 10526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49640" y="1463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 nov – 31 dic (61 días)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23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2514E"/>
                </a:solidFill>
              </a:rPr>
              <a:t>Rolling-origin diario: cada día se pronostica con datos hasta el día anterior a las 23:00 (sin fuga de información).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136392"/>
            <a:ext cx="256032" cy="256032"/>
          </a:xfrm>
          <a:prstGeom prst="ellipse">
            <a:avLst/>
          </a:prstGeom>
          <a:solidFill>
            <a:srgbClr val="898781"/>
          </a:solidFill>
          <a:ln w="12700">
            <a:solidFill>
              <a:srgbClr val="8987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0175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A"/>
                </a:solidFill>
              </a:rPr>
              <a:t>Baselines: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</a:rPr>
              <a:t>Naive 7 días · Media horaria · Media 4 semanas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739896"/>
            <a:ext cx="256032" cy="256032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62102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A"/>
                </a:solidFill>
              </a:rPr>
              <a:t>Estadísticos: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</a:rPr>
              <a:t>AutoETS (24 h) · MSTL (24 h + 168 h)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343400"/>
            <a:ext cx="256032" cy="256032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22452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A"/>
                </a:solidFill>
              </a:rPr>
              <a:t>Machine learning: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</a:rPr>
              <a:t>LightGBM directo, objetivo Tweedie, lags ≥ 24 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946904"/>
            <a:ext cx="256032" cy="25603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82803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A"/>
                </a:solidFill>
              </a:rPr>
              <a:t>Fundacionales (zero-shot):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</a:rPr>
              <a:t>Chronos-Bolt · Chronos-2 con feriado como covariable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550408"/>
            <a:ext cx="256032" cy="256032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43153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A"/>
                </a:solidFill>
              </a:rPr>
              <a:t>Combinación: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</a:rPr>
              <a:t>Ensemble del top-3 de validación</a:t>
            </a:r>
            <a:endParaRPr lang="en-US" sz="1500" dirty="0"/>
          </a:p>
        </p:txBody>
      </p:sp>
      <p:sp>
        <p:nvSpPr>
          <p:cNvPr id="20" name="metricas"/>
          <p:cNvSpPr/>
          <p:nvPr/>
        </p:nvSpPr>
        <p:spPr>
          <a:xfrm>
            <a:off x="8092440" y="3017520"/>
            <a:ext cx="3520440" cy="2971800"/>
          </a:xfrm>
          <a:prstGeom prst="roundRect">
            <a:avLst>
              <a:gd name="adj" fmla="val 3692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320040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3A4A"/>
                </a:solidFill>
              </a:rPr>
              <a:t>Métricas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</a:rPr>
              <a:t>WMAPE (criterio de selección)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</a:rPr>
              <a:t>MAE, RMSE, MASE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</a:rPr>
              <a:t>WQL y cobertura de la banda 80 %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</a:rPr>
              <a:t>Diebold-Mariano (significancia)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</a:rPr>
              <a:t>Estratos: normales vs atípicos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el modelo elegido supera a la mejor baseline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_metro_l1"/>
          <p:cNvSpPr/>
          <p:nvPr/>
        </p:nvSpPr>
        <p:spPr>
          <a:xfrm>
            <a:off x="7863840" y="1280160"/>
            <a:ext cx="3749040" cy="1078992"/>
          </a:xfrm>
          <a:prstGeom prst="roundRect">
            <a:avLst>
              <a:gd name="adj" fmla="val 1016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4672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3A4A"/>
                </a:solidFill>
              </a:rPr>
              <a:t>Metro L1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1371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A78D6"/>
                </a:solidFill>
              </a:rPr>
              <a:t>Ensemble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175564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−19 % WMAPE vs Media 4 semanas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MASE 0.95 · DM p &lt; 0,05</a:t>
            </a:r>
            <a:endParaRPr lang="en-US" sz="1200" dirty="0"/>
          </a:p>
        </p:txBody>
      </p:sp>
      <p:sp>
        <p:nvSpPr>
          <p:cNvPr id="8" name="res_troncal"/>
          <p:cNvSpPr/>
          <p:nvPr/>
        </p:nvSpPr>
        <p:spPr>
          <a:xfrm>
            <a:off x="7863840" y="2496312"/>
            <a:ext cx="3749040" cy="1078992"/>
          </a:xfrm>
          <a:prstGeom prst="roundRect">
            <a:avLst>
              <a:gd name="adj" fmla="val 1016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2587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3A4A"/>
                </a:solidFill>
              </a:rPr>
              <a:t>Troncal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92640" y="2587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A78D6"/>
                </a:solidFill>
              </a:rPr>
              <a:t>Ensemble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29718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−23 % WMAPE vs Media 4 semanas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MASE 0.95 · DM p &lt; 0,05</a:t>
            </a:r>
            <a:endParaRPr lang="en-US" sz="1200" dirty="0"/>
          </a:p>
        </p:txBody>
      </p:sp>
      <p:sp>
        <p:nvSpPr>
          <p:cNvPr id="12" name="res_corredor"/>
          <p:cNvSpPr/>
          <p:nvPr/>
        </p:nvSpPr>
        <p:spPr>
          <a:xfrm>
            <a:off x="7863840" y="3712464"/>
            <a:ext cx="3749040" cy="1078992"/>
          </a:xfrm>
          <a:prstGeom prst="roundRect">
            <a:avLst>
              <a:gd name="adj" fmla="val 1016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3803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3A4A"/>
                </a:solidFill>
              </a:rPr>
              <a:t>Corredores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0" y="38039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A78D6"/>
                </a:solidFill>
              </a:rPr>
              <a:t>Ensemble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418795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−28 % WMAPE vs Media 4 semanas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MASE 0.81 · DM p &lt; 0,05</a:t>
            </a:r>
            <a:endParaRPr lang="en-US" sz="1200" dirty="0"/>
          </a:p>
        </p:txBody>
      </p:sp>
      <p:sp>
        <p:nvSpPr>
          <p:cNvPr id="16" name="res_alimentador"/>
          <p:cNvSpPr/>
          <p:nvPr/>
        </p:nvSpPr>
        <p:spPr>
          <a:xfrm>
            <a:off x="7863840" y="4928616"/>
            <a:ext cx="3749040" cy="1078992"/>
          </a:xfrm>
          <a:prstGeom prst="roundRect">
            <a:avLst>
              <a:gd name="adj" fmla="val 1016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50200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3A4A"/>
                </a:solidFill>
              </a:rPr>
              <a:t>Alimentadores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50200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A78D6"/>
                </a:solidFill>
              </a:rPr>
              <a:t>LightGBM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540410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−14 % WMAPE vs Media 4 semanas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MASE 0.71 · DM p &lt; 0,05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 atípicos e incertidumbre calibrada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63640" y="1234440"/>
          <a:ext cx="5349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Aforo multiclase: la cascada del producto cumple RNF-01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72237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3A4A"/>
                </a:solidFill>
              </a:rPr>
              <a:t>Requisitos por sistema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2514E"/>
                </a:solidFill>
              </a:rPr>
              <a:t>Metro L1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38160" y="21945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3F4E3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2194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300"/>
                </a:solidFill>
              </a:rPr>
              <a:t>✓ RNF-01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92640" y="21945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3F4E3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0" y="2194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300"/>
                </a:solidFill>
              </a:rPr>
              <a:t>✓ AC-02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852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2514E"/>
                </a:solidFill>
              </a:rPr>
              <a:t>Troncal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38160" y="321868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3F4E3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32186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300"/>
                </a:solidFill>
              </a:rPr>
              <a:t>✓ RNF-01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92640" y="321868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3F4E3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92640" y="32186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300"/>
                </a:solidFill>
              </a:rPr>
              <a:t>✓ AC-02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38770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2514E"/>
                </a:solidFill>
              </a:rPr>
              <a:t>Corredores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38160" y="4242816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3F4E3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38160" y="4242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300"/>
                </a:solidFill>
              </a:rPr>
              <a:t>✓ RNF-01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692640" y="4242816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3F4E3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92640" y="4242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300"/>
                </a:solidFill>
              </a:rPr>
              <a:t>✓ AC-02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4901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2514E"/>
                </a:solidFill>
              </a:rPr>
              <a:t>Alimentadores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38160" y="5266944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3F4E3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52669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300"/>
                </a:solidFill>
              </a:rPr>
              <a:t>✓ RNF-01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692640" y="5266944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BE4E4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92640" y="52669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2020"/>
                </a:solidFill>
              </a:rPr>
              <a:t>✗ AC-02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138160" y="5897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</a:rPr>
              <a:t>RNF-01: accuracy ≥ 0.75 y F1-macro ≥ 0.72 · AC-02: F1 ≥ 0.72 en las 3 clases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(AC-03) y ETA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2103120"/>
                <a:gridCol w="1828800"/>
                <a:gridCol w="2286000"/>
                <a:gridCol w="12801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Acuerdo 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Acuerdo «siempre abordar»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acc. 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acc. «siempre abordar»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ETA (min)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Troncal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Alimentadores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ac03"/>
          <p:cNvSpPr/>
          <p:nvPr/>
        </p:nvSpPr>
        <p:spPr>
          <a:xfrm>
            <a:off x="548640" y="3931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069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3A4A"/>
                </a:solidFill>
              </a:rPr>
              <a:t>AC-03 tal como está es débil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«Siempre abordar» ya acierta 90–96 % porque en la mayoría de horas no hay que hacer otra cosa. Con balanced accuracy el modelo logra 0,85 / 0,90 / 0,93 / 0,64 frente a 0,33–0,50: proponemos esa métrica para AC-03.</a:t>
            </a:r>
            <a:endParaRPr lang="en-US" sz="1400" dirty="0"/>
          </a:p>
        </p:txBody>
      </p:sp>
      <p:sp>
        <p:nvSpPr>
          <p:cNvPr id="6" name="eta"/>
          <p:cNvSpPr/>
          <p:nvPr/>
        </p:nvSpPr>
        <p:spPr>
          <a:xfrm>
            <a:off x="6217920" y="3931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4069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3A4A"/>
                </a:solidFill>
              </a:rPr>
              <a:t>ETA sin GPS: medición honesta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Sin AVL no hay llegadas reales. Medimos el error del ETA inducido por el modelo (clase predicha vs clase observada). El ETA real se validará cuando haya datos de GPS.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Alertas: detección de paros y feriados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5778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serie_z" descr="C:\Users\pomaj\Downloads\UTEC_2026_2\desarrollo_de_producto_de_datos\DPD_project\deliveries\week09\docs\images\model_v2\anomalias_z_20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25880"/>
            <a:ext cx="5257800" cy="21031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355080" y="3657600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El detector causal por residuos marca 12–14 de 15 feriados y los paros con mayor caída (02-oct y 06-oct en troncal: −24 % y −23 %). Los paros reducen la demanda formal (hasta −30 % en corredores) y la suben en alimentadores (+21 % el 10-abr). IsolationForest confunde horas valle con anomalías.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funciona hoy y qué falta desarrollar</a:t>
            </a:r>
            <a:endParaRPr lang="en-US" sz="3200" dirty="0"/>
          </a:p>
        </p:txBody>
      </p:sp>
      <p:sp>
        <p:nvSpPr>
          <p:cNvPr id="3" name="funciona"/>
          <p:cNvSpPr/>
          <p:nvPr/>
        </p:nvSpPr>
        <p:spPr>
          <a:xfrm>
            <a:off x="548640" y="132588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" name="falta"/>
          <p:cNvSpPr/>
          <p:nvPr/>
        </p:nvSpPr>
        <p:spPr>
          <a:xfrm>
            <a:off x="6172200" y="132588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5" name="funciona_circulo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pic>
        <p:nvPicPr>
          <p:cNvPr id="6" name="funciona_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636776"/>
            <a:ext cx="384048" cy="384048"/>
          </a:xfrm>
          <a:prstGeom prst="rect">
            <a:avLst/>
          </a:prstGeom>
        </p:spPr>
      </p:pic>
      <p:sp>
        <p:nvSpPr>
          <p:cNvPr id="7" name="falta_circulo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8" name="falta_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636776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A4A"/>
                </a:solidFill>
              </a:rPr>
              <a:t>Funciona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A4A"/>
                </a:solidFill>
              </a:rPr>
              <a:t>Falta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Pipeline de datos reproducible (ZIP ATU → Parquet → EDA → CSV)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Ingesta a PostgreSQL + Docker con pruebas de paridad (Elmer, week10)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Evaluación v2 de 9 modelos en 4 sistemas, con bandas calibradas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Modelos serializados con manifiesto, sha256 y verificación de recarga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Módulo de inferencia: pronóstico + aforo + ETA + recomendación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33172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API REST con inferencia &lt; 2 s (P95) — Alessandro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Frontend web y despliegue con URL pública (semana 10)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Batch diario que llene la tabla de predicciones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Módulo peatonal seguro (OSM) — semana 11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Validar ETA y aforo con usuarios (feedback, semana 12)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demostraremos en la presentación final</a:t>
            </a:r>
            <a:endParaRPr lang="en-US" sz="3200" dirty="0"/>
          </a:p>
        </p:txBody>
      </p:sp>
      <p:sp>
        <p:nvSpPr>
          <p:cNvPr id="3" name="benef_0"/>
          <p:cNvSpPr/>
          <p:nvPr/>
        </p:nvSpPr>
        <p:spPr>
          <a:xfrm>
            <a:off x="548640" y="132588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4" name="benef_0_circulo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5" name="benef_0_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6550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A4A"/>
                </a:solidFill>
              </a:rPr>
              <a:t>Pasajero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2514E"/>
                </a:solidFill>
              </a:rPr>
              <a:t>Ve el aforo y el ETA de las próximas unidades en 2 toques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2514E"/>
                </a:solidFill>
              </a:rPr>
              <a:t>Recibe una recomendación: abordar, esperar o cambiar de paradero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2514E"/>
                </a:solidFill>
              </a:rPr>
              <a:t>Camina por rutas más seguras de noche (semana 11)</a:t>
            </a:r>
            <a:endParaRPr lang="en-US" sz="1500" dirty="0"/>
          </a:p>
        </p:txBody>
      </p:sp>
      <p:sp>
        <p:nvSpPr>
          <p:cNvPr id="8" name="benef_1"/>
          <p:cNvSpPr/>
          <p:nvPr/>
        </p:nvSpPr>
        <p:spPr>
          <a:xfrm>
            <a:off x="6172200" y="132588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9" name="benef_1_circulo"/>
          <p:cNvSpPr/>
          <p:nvPr/>
        </p:nvSpPr>
        <p:spPr>
          <a:xfrm>
            <a:off x="6400800" y="1508760"/>
            <a:ext cx="731520" cy="7315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0" name="benef_1_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5506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A4A"/>
                </a:solidFill>
              </a:rPr>
              <a:t>Planificador ATU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3774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2514E"/>
                </a:solidFill>
              </a:rPr>
              <a:t>Pronóstico 24 h por estación con banda de confianza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2514E"/>
                </a:solidFill>
              </a:rPr>
              <a:t>Alertas de días atípicos (paros) con su magnitud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2514E"/>
                </a:solidFill>
              </a:rPr>
              <a:t>Mapa de horas y estaciones con mayor presión de abordaje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572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3A4A"/>
                </a:solidFill>
              </a:rPr>
              <a:t>Indicadores que mostraremos</a:t>
            </a:r>
            <a:endParaRPr lang="en-US" sz="1600" dirty="0"/>
          </a:p>
        </p:txBody>
      </p:sp>
      <p:sp>
        <p:nvSpPr>
          <p:cNvPr id="14" name="kpi_0"/>
          <p:cNvSpPr/>
          <p:nvPr/>
        </p:nvSpPr>
        <p:spPr>
          <a:xfrm>
            <a:off x="548640" y="502920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029200"/>
            <a:ext cx="2651760" cy="1143000"/>
          </a:xfrm>
          <a:prstGeom prst="roundRect">
            <a:avLst>
              <a:gd name="adj" fmla="val 9600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−19 a −28 %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5596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WMAPE vs mejor baseline (L1, troncal, corredores)</a:t>
            </a:r>
            <a:endParaRPr lang="en-US" sz="1100" dirty="0"/>
          </a:p>
        </p:txBody>
      </p:sp>
      <p:sp>
        <p:nvSpPr>
          <p:cNvPr id="18" name="kpi_1"/>
          <p:cNvSpPr/>
          <p:nvPr/>
        </p:nvSpPr>
        <p:spPr>
          <a:xfrm>
            <a:off x="3364992" y="502920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64992" y="5029200"/>
            <a:ext cx="2651760" cy="1143000"/>
          </a:xfrm>
          <a:prstGeom prst="roundRect">
            <a:avLst>
              <a:gd name="adj" fmla="val 9600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502152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0,91–0,93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3502152" y="5596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F1-weighted del aforo (L1, troncal, corredores)</a:t>
            </a:r>
            <a:endParaRPr lang="en-US" sz="1100" dirty="0"/>
          </a:p>
        </p:txBody>
      </p:sp>
      <p:sp>
        <p:nvSpPr>
          <p:cNvPr id="22" name="kpi_2"/>
          <p:cNvSpPr/>
          <p:nvPr/>
        </p:nvSpPr>
        <p:spPr>
          <a:xfrm>
            <a:off x="6181344" y="502920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81344" y="5029200"/>
            <a:ext cx="2651760" cy="1143000"/>
          </a:xfrm>
          <a:prstGeom prst="roundRect">
            <a:avLst>
              <a:gd name="adj" fmla="val 9600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18504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0,85–0,93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6318504" y="5596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balanced accuracy de la recomendación (vs 0,33–0,50)</a:t>
            </a:r>
            <a:endParaRPr lang="en-US" sz="1100" dirty="0"/>
          </a:p>
        </p:txBody>
      </p:sp>
      <p:sp>
        <p:nvSpPr>
          <p:cNvPr id="26" name="kpi_3"/>
          <p:cNvSpPr/>
          <p:nvPr/>
        </p:nvSpPr>
        <p:spPr>
          <a:xfrm>
            <a:off x="8997696" y="502920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997696" y="5029200"/>
            <a:ext cx="2651760" cy="1143000"/>
          </a:xfrm>
          <a:prstGeom prst="roundRect">
            <a:avLst>
              <a:gd name="adj" fmla="val 9600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134856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0,59–0,72</a:t>
            </a:r>
            <a:endParaRPr lang="en-US" sz="2400" dirty="0"/>
          </a:p>
        </p:txBody>
      </p:sp>
      <p:sp>
        <p:nvSpPr>
          <p:cNvPr id="29" name="Text 25"/>
          <p:cNvSpPr txBox="1"/>
          <p:nvPr/>
        </p:nvSpPr>
        <p:spPr>
          <a:xfrm>
            <a:off x="9134856" y="5596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PR-AUC de alertas (vs 0,23–0,46 de IsolationForest)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conocidas y próximos pasos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3A4A"/>
                </a:solidFill>
              </a:rPr>
              <a:t>Limitaciones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Validaciones = abordajes, no ocupación a bordo: el aforo es un proxy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«Saturado» es relativo a cada franja horaria (umbrales p60/p90)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Sin GPS/AVL: el ETA no se valida contra llegadas reales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Un solo año de historia; corredores y alimentadores con cobertura parcial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</a:rPr>
              <a:t>Los paros no se anticipan: se detectan después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3A4A"/>
                </a:solidFill>
              </a:rPr>
              <a:t>Próximos pasos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72200" y="1874520"/>
            <a:ext cx="1143000" cy="566928"/>
          </a:xfrm>
          <a:prstGeom prst="roundRect">
            <a:avLst>
              <a:gd name="adj" fmla="val 16129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72200" y="187452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S10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8745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Prototipo funcional: API + frontend + despliegue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2697480"/>
            <a:ext cx="1143000" cy="566928"/>
          </a:xfrm>
          <a:prstGeom prst="roundRect">
            <a:avLst>
              <a:gd name="adj" fmla="val 16129"/>
            </a:avLst>
          </a:prstGeom>
          <a:solidFill>
            <a:srgbClr val="0E3A4A"/>
          </a:solidFill>
          <a:ln w="12700">
            <a:solidFill>
              <a:srgbClr val="0E3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26974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S11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6974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Módulo peatonal seguro sobre OSM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3520440"/>
            <a:ext cx="1143000" cy="566928"/>
          </a:xfrm>
          <a:prstGeom prst="roundRect">
            <a:avLst>
              <a:gd name="adj" fmla="val 16129"/>
            </a:avLst>
          </a:prstGeom>
          <a:solidFill>
            <a:srgbClr val="0E3A4A"/>
          </a:solidFill>
          <a:ln w="12700">
            <a:solidFill>
              <a:srgbClr val="0E3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352044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S12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35204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EvaluationReport + casos de estudio con usuarios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4343400"/>
            <a:ext cx="1143000" cy="566928"/>
          </a:xfrm>
          <a:prstGeom prst="roundRect">
            <a:avLst>
              <a:gd name="adj" fmla="val 16129"/>
            </a:avLst>
          </a:prstGeom>
          <a:solidFill>
            <a:srgbClr val="0E3A4A"/>
          </a:solidFill>
          <a:ln w="12700">
            <a:solidFill>
              <a:srgbClr val="0E3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434340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S13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43434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Docker completo y cloud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5166360"/>
            <a:ext cx="1143000" cy="566928"/>
          </a:xfrm>
          <a:prstGeom prst="roundRect">
            <a:avLst>
              <a:gd name="adj" fmla="val 16129"/>
            </a:avLst>
          </a:prstGeom>
          <a:solidFill>
            <a:srgbClr val="0E3A4A"/>
          </a:solidFill>
          <a:ln w="12700">
            <a:solidFill>
              <a:srgbClr val="0E3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51663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S14–S15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51663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Video demo, project page y presentación final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3C2B7"/>
                </a:solidFill>
              </a:rPr>
              <a:t>Repositorio: github.com/EV081/DPD_project · deliveries/week09 y deliveries/week10/models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Referencias clave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88920"/>
            <a:ext cx="10698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EA"/>
                </a:solidFill>
              </a:rPr>
              <a:t>Ansari et al. (2025). Chronos-2: From Univariate to Universal Forecasting. arXiv:2510.15821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EA"/>
                </a:solidFill>
              </a:rPr>
              <a:t>Yanes-Pulido &amp; Rodrigues (2026). Time Series Foundation Models as Strong Baselines in Transportation Forecasting. arXiv:2602.24238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EA"/>
                </a:solidFill>
              </a:rPr>
              <a:t>It's TIME: Towards the Next Generation of Time Series Forecasting Benchmarks (2026). arXiv:2602.12147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EA"/>
                </a:solidFill>
              </a:rPr>
              <a:t>Stocker et al. (2025). A Gentle Introduction to Conformal Time Series Forecasting. arXiv:2511.13608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EA"/>
                </a:solidFill>
              </a:rPr>
              <a:t>Diebold &amp; Mariano (1995); Harvey, Leybourne &amp; Newbold (1997). Comparación de exactitud de pronósticos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EA"/>
                </a:solidFill>
              </a:rPr>
              <a:t>ATU / MTPE (2025). Validaciones 2025 (acceso a la información pública) y calendario oficial de feriados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3C2B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rbanSafe Transit">
  <a:themeElements>
    <a:clrScheme name="UrbanSafe Transit">
      <a:dk1>
        <a:srgbClr val="1B1B1B"/>
      </a:dk1>
      <a:lt1>
        <a:srgbClr val="FFFFFF"/>
      </a:lt1>
      <a:dk2>
        <a:srgbClr val="0E3A4A"/>
      </a:dk2>
      <a:lt2>
        <a:srgbClr val="EEF3F4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898781"/>
      </a:accent5>
      <a:accent6>
        <a:srgbClr val="6250D6"/>
      </a:accent6>
      <a:hlink>
        <a:srgbClr val="2A78D6"/>
      </a:hlink>
      <a:folHlink>
        <a:srgbClr val="6250D6"/>
      </a:folHlink>
    </a:clrScheme>
    <a:fontScheme name="UrbanSafe Trans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UTEC - DS3022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UrbanSafe AI - Avance semana 09</dc:title>
  <dc:subject>PptxGenJS Presentation</dc:subject>
  <dc:creator>Juan David Velo Poma</dc:creator>
  <cp:lastModifiedBy>Juan David Velo Poma</cp:lastModifiedBy>
  <cp:revision>1</cp:revision>
  <dcterms:created xsi:type="dcterms:W3CDTF">2026-10-12T10:11:39Z</dcterms:created>
  <dcterms:modified xsi:type="dcterms:W3CDTF">2026-10-12T10:11:39Z</dcterms:modified>
</cp:coreProperties>
</file>